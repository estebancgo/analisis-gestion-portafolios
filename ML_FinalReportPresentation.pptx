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8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CB456-5C72-49CA-9CB4-7B2522C8A2B6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482D01-F75A-460C-B499-F51EC6422B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3918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482D01-F75A-460C-B499-F51EC6422B7F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3313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69E35-ACB0-4B4D-9278-932F61DBB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A12110-D45B-486D-A378-D9C5E5067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567476-5922-4E6C-AC30-D091D983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7492F9-8ED0-4253-910F-43894FC6B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DB4094-15AC-4F81-8E4D-9B6A03E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71705C3-DDBD-4424-A371-A48D188D1E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95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9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AABE3-B148-4841-A9A6-387B67B79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5EB08D-276E-4E8B-8318-D96EDC19C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12E73F-11C5-4FC3-A335-676911DD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89F6E1-C862-483D-B3FB-0DA77CEEB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26A496-AD44-4D2D-BAC3-FAA22103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652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088CD-3EC4-4FB2-8F0C-A3F6CFCF2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209438-B50B-4F65-A91E-E856909A9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CFC6D0-4C67-42F2-875D-501CF4D8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F5F212-27E3-4438-B9E3-C7D84AE3B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68BB3A-2EAD-4820-B8C5-1AED4902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4268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5D5E5-3A40-4E48-B322-D145D016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E5D156-4C10-4D5D-813F-5DB2584C3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E547A3-0999-45E7-BD1D-11CC0555E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3F8ED7-9D1E-4919-AA1E-FEF28CAA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682CF2-ABA7-42C3-B095-F7D5EAFB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8D0C55-B914-41F6-98EB-F0FA1337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871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A9849-C33E-41F5-8B86-AF7F8787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8EC724-A1E9-4EA6-A20F-99E5BF555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0BDDF6-AAAD-4791-82AD-36158D299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2F3D101-08FA-443C-A87E-4B45E83545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DEE2C-CCFD-4C2A-B57E-CE6D29633D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58E052-B149-41C5-828D-FC8B11E3A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8D8948-B318-4501-B4C0-F519EC75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B4FAED-91B0-41AB-9ED7-6A128AE7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913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520B7-6C6C-4A0B-9C8F-48069298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6833D39-3262-4E30-9CF2-1105A975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5EDF8D-38DC-4606-83A7-7EA55A79C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F4D3F4-DC77-4ADA-8058-2374294F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185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D0A113-4696-493C-82DE-50F9C0A3D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C97032-B265-4498-8157-38056583D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E852EC-BA41-4153-86C9-43C7B438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2883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C27D1-DB69-4B43-8CA4-D6075772A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F25ACC-BD69-4F4F-86D3-A8CA107E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9B2BE2-F988-4611-B1C0-72660B6AF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02E8E4-9C5F-4F68-A44F-BBEDA4D15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0BBFB9-DDA1-410D-8773-A2D3E059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E22190-31BC-46C8-BABC-A3DB17CEB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69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B1A38-B741-49EF-BEA7-556AF7082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DE629A-429E-4C6A-A70B-4143E3B9C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BCF299-DF28-4685-A595-A3433C762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506748-B999-4EEB-82F6-C98A1EF19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808FC6-4B9E-4E5A-96F5-20B018C5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62C742-E4B4-456E-90A7-27F27A15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400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BCC7E-310E-43FA-9107-576DC781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60602E-D711-4042-9600-466D43B77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D921E-62B0-40A0-9C62-A3876ACA2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5C822A-F876-479B-B7C0-C1DFAB55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1FB7F8-2D55-469F-AEA9-5C3B1D9C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131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1E5713-AAA7-4B3D-9FC7-0716C225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A5A6D3-915D-458C-B1D8-9F98A9029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BDCF97-0001-4E28-9553-1ED8B689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BC892A-FA69-4D04-8B80-4C829EFE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6663D1-0F9B-4BF6-B1F4-BD6D6D8B6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3518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1265A2A-754A-47B9-8A3D-544F6A636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C15C41-BA1A-4B4A-A6C1-80D9840AF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F77664-F0AC-4D49-8F19-44427AC69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96D3D-60AE-403A-B504-4854C8351874}" type="datetimeFigureOut">
              <a:rPr lang="es-CO" smtClean="0"/>
              <a:t>8/09/2021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61B016-6AF9-4CF5-9966-E9BCD7186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40548C-1E9C-4366-A71B-C0792D45B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BB7FF-A364-4357-A610-D3E9B7DFD3F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262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44C3EEE-1D68-435A-A9B9-6D6ECC53F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433" y="854075"/>
            <a:ext cx="6019800" cy="16954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3093A3B-9C3F-43F5-92F9-B10F6E215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787" y="4745742"/>
            <a:ext cx="3248025" cy="172402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EFD3C20-EBE6-449E-9DAB-E997A836E92E}"/>
              </a:ext>
            </a:extLst>
          </p:cNvPr>
          <p:cNvSpPr txBox="1"/>
          <p:nvPr/>
        </p:nvSpPr>
        <p:spPr>
          <a:xfrm>
            <a:off x="4162424" y="3939144"/>
            <a:ext cx="3390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Juan Esteban Calderón Gómez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99135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403DB2-CD32-4EC5-8CDB-AF6A6151CD42}"/>
              </a:ext>
            </a:extLst>
          </p:cNvPr>
          <p:cNvSpPr txBox="1"/>
          <p:nvPr/>
        </p:nvSpPr>
        <p:spPr>
          <a:xfrm>
            <a:off x="481584" y="97536"/>
            <a:ext cx="10198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00000"/>
                </a:solidFill>
              </a:rPr>
              <a:t>Descripción del problema abordado</a:t>
            </a:r>
            <a:endParaRPr lang="es-CO" sz="3200" dirty="0">
              <a:solidFill>
                <a:srgbClr val="C00000"/>
              </a:solidFill>
            </a:endParaRPr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C26CAF77-9007-4C16-9EDF-6C1150CBF501}"/>
              </a:ext>
            </a:extLst>
          </p:cNvPr>
          <p:cNvGrpSpPr/>
          <p:nvPr/>
        </p:nvGrpSpPr>
        <p:grpSpPr>
          <a:xfrm>
            <a:off x="971597" y="1769010"/>
            <a:ext cx="1651586" cy="2463577"/>
            <a:chOff x="971597" y="1769010"/>
            <a:chExt cx="1651586" cy="2463577"/>
          </a:xfrm>
          <a:noFill/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6A57BCBC-EB3B-4DEE-9ACF-AA306EE54D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827"/>
            <a:stretch/>
          </p:blipFill>
          <p:spPr>
            <a:xfrm>
              <a:off x="971597" y="2875434"/>
              <a:ext cx="1651586" cy="1357153"/>
            </a:xfrm>
            <a:prstGeom prst="rect">
              <a:avLst/>
            </a:prstGeom>
            <a:grpFill/>
          </p:spPr>
        </p:pic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9A27D8E-4E15-4F9A-832E-CE7A090CD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4178" y="1769010"/>
              <a:ext cx="1106424" cy="1106424"/>
            </a:xfrm>
            <a:prstGeom prst="rect">
              <a:avLst/>
            </a:prstGeom>
            <a:grpFill/>
          </p:spPr>
        </p:pic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2044FAAB-2FEC-4AF2-BF0E-CFACB23F15EC}"/>
              </a:ext>
            </a:extLst>
          </p:cNvPr>
          <p:cNvGrpSpPr/>
          <p:nvPr/>
        </p:nvGrpSpPr>
        <p:grpSpPr>
          <a:xfrm>
            <a:off x="3204358" y="2106594"/>
            <a:ext cx="3038134" cy="2087051"/>
            <a:chOff x="3204358" y="2106594"/>
            <a:chExt cx="3038134" cy="2087051"/>
          </a:xfrm>
        </p:grpSpPr>
        <p:pic>
          <p:nvPicPr>
            <p:cNvPr id="19" name="Gráfico 18" descr="Flecha: curva ligera contorno">
              <a:extLst>
                <a:ext uri="{FF2B5EF4-FFF2-40B4-BE49-F238E27FC236}">
                  <a16:creationId xmlns:a16="http://schemas.microsoft.com/office/drawing/2014/main" id="{9DB686CD-1244-4B41-A3FD-5E8E83BE9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04358" y="2709060"/>
              <a:ext cx="914400" cy="914400"/>
            </a:xfrm>
            <a:prstGeom prst="rect">
              <a:avLst/>
            </a:prstGeom>
          </p:spPr>
        </p:pic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B6A7DD87-CAA6-46A3-8C76-481B13CAEA5A}"/>
                </a:ext>
              </a:extLst>
            </p:cNvPr>
            <p:cNvGrpSpPr/>
            <p:nvPr/>
          </p:nvGrpSpPr>
          <p:grpSpPr>
            <a:xfrm>
              <a:off x="4621535" y="2106594"/>
              <a:ext cx="1620957" cy="2087051"/>
              <a:chOff x="4621535" y="1030146"/>
              <a:chExt cx="1620957" cy="2087051"/>
            </a:xfrm>
          </p:grpSpPr>
          <p:pic>
            <p:nvPicPr>
              <p:cNvPr id="21" name="Gráfico 20" descr="Tribunal contorno">
                <a:extLst>
                  <a:ext uri="{FF2B5EF4-FFF2-40B4-BE49-F238E27FC236}">
                    <a16:creationId xmlns:a16="http://schemas.microsoft.com/office/drawing/2014/main" id="{B4D1F0E3-5B0B-4624-AE1F-E80399619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768028" y="1789225"/>
                <a:ext cx="1327972" cy="1327972"/>
              </a:xfrm>
              <a:prstGeom prst="rect">
                <a:avLst/>
              </a:prstGeom>
            </p:spPr>
          </p:pic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E1B86B41-03D2-4878-8234-89A90CFCC0AA}"/>
                  </a:ext>
                </a:extLst>
              </p:cNvPr>
              <p:cNvSpPr txBox="1"/>
              <p:nvPr/>
            </p:nvSpPr>
            <p:spPr>
              <a:xfrm>
                <a:off x="4621535" y="1030146"/>
                <a:ext cx="162095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MX" dirty="0"/>
                  <a:t>Fiduciarias</a:t>
                </a:r>
              </a:p>
              <a:p>
                <a:pPr algn="ctr"/>
                <a:r>
                  <a:rPr lang="es-MX" dirty="0"/>
                  <a:t>Aseguradoras</a:t>
                </a:r>
              </a:p>
              <a:p>
                <a:pPr algn="ctr"/>
                <a:r>
                  <a:rPr lang="es-MX" dirty="0"/>
                  <a:t>AFP</a:t>
                </a:r>
                <a:endParaRPr lang="es-CO" dirty="0"/>
              </a:p>
            </p:txBody>
          </p:sp>
        </p:grp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2CE1539-90C0-452C-82C0-E6130BCD140B}"/>
              </a:ext>
            </a:extLst>
          </p:cNvPr>
          <p:cNvGrpSpPr/>
          <p:nvPr/>
        </p:nvGrpSpPr>
        <p:grpSpPr>
          <a:xfrm>
            <a:off x="6524871" y="1581790"/>
            <a:ext cx="3973367" cy="2923658"/>
            <a:chOff x="6524871" y="1581790"/>
            <a:chExt cx="3973367" cy="2923658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8F4C62F3-E3A3-47B4-BFFB-E024BA0F9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3618" y="1838460"/>
              <a:ext cx="1540064" cy="154006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076F523B-8BA3-4682-ACBD-F28D8EE36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7688" y="3529659"/>
              <a:ext cx="771924" cy="771924"/>
            </a:xfrm>
            <a:prstGeom prst="rect">
              <a:avLst/>
            </a:prstGeom>
          </p:spPr>
        </p:pic>
        <p:pic>
          <p:nvPicPr>
            <p:cNvPr id="28" name="Gráfico 27" descr="Flecha: curva ligera contorno">
              <a:extLst>
                <a:ext uri="{FF2B5EF4-FFF2-40B4-BE49-F238E27FC236}">
                  <a16:creationId xmlns:a16="http://schemas.microsoft.com/office/drawing/2014/main" id="{068F6E40-A397-4E0F-9AFE-4559A674F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24871" y="2865673"/>
              <a:ext cx="914400" cy="914400"/>
            </a:xfrm>
            <a:prstGeom prst="rect">
              <a:avLst/>
            </a:prstGeom>
          </p:spPr>
        </p:pic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BD7C78B8-3845-4CF3-94C6-D1E4E60FA546}"/>
                </a:ext>
              </a:extLst>
            </p:cNvPr>
            <p:cNvSpPr/>
            <p:nvPr/>
          </p:nvSpPr>
          <p:spPr>
            <a:xfrm>
              <a:off x="8137003" y="1581790"/>
              <a:ext cx="2361235" cy="2923658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971D4EE-1A27-47FA-8BF2-230E6F3E6198}"/>
              </a:ext>
            </a:extLst>
          </p:cNvPr>
          <p:cNvSpPr txBox="1"/>
          <p:nvPr/>
        </p:nvSpPr>
        <p:spPr>
          <a:xfrm>
            <a:off x="682906" y="879675"/>
            <a:ext cx="11204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Los Fondos Voluntarios de Pensiones son él vehículo financiero de principal atención en el proyecto desarrollado</a:t>
            </a:r>
            <a:endParaRPr lang="es-CO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E1FB057-1CFD-462D-8763-5437CD0D694D}"/>
              </a:ext>
            </a:extLst>
          </p:cNvPr>
          <p:cNvGrpSpPr/>
          <p:nvPr/>
        </p:nvGrpSpPr>
        <p:grpSpPr>
          <a:xfrm>
            <a:off x="609526" y="5113176"/>
            <a:ext cx="5109648" cy="1477328"/>
            <a:chOff x="1106240" y="5113176"/>
            <a:chExt cx="5109648" cy="1477328"/>
          </a:xfrm>
        </p:grpSpPr>
        <p:pic>
          <p:nvPicPr>
            <p:cNvPr id="4" name="Imagen 3" descr="Icono&#10;&#10;Descripción generada automáticamente">
              <a:extLst>
                <a:ext uri="{FF2B5EF4-FFF2-40B4-BE49-F238E27FC236}">
                  <a16:creationId xmlns:a16="http://schemas.microsoft.com/office/drawing/2014/main" id="{DF52CFF0-036C-476C-B0CD-C58B2360C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5888" y="5113176"/>
              <a:ext cx="1270000" cy="1270000"/>
            </a:xfrm>
            <a:prstGeom prst="rect">
              <a:avLst/>
            </a:prstGeom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8182AA0B-EE3B-4B02-B799-06774B115521}"/>
                </a:ext>
              </a:extLst>
            </p:cNvPr>
            <p:cNvSpPr txBox="1"/>
            <p:nvPr/>
          </p:nvSpPr>
          <p:spPr>
            <a:xfrm>
              <a:off x="1106240" y="5113176"/>
              <a:ext cx="374798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El </a:t>
              </a:r>
              <a:r>
                <a:rPr lang="es-MX" b="1" dirty="0">
                  <a:solidFill>
                    <a:srgbClr val="FF0000"/>
                  </a:solidFill>
                </a:rPr>
                <a:t>riesgo de Liquidez </a:t>
              </a:r>
              <a:r>
                <a:rPr lang="es-MX" dirty="0"/>
                <a:t>se materializa en el evento en el cual una parte importante de los clientes piden retirar su dinero del fondo.</a:t>
              </a:r>
              <a:endParaRPr lang="es-CO" dirty="0"/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0EA99680-D417-4859-9DAC-D52303C7AB58}"/>
              </a:ext>
            </a:extLst>
          </p:cNvPr>
          <p:cNvSpPr/>
          <p:nvPr/>
        </p:nvSpPr>
        <p:spPr>
          <a:xfrm>
            <a:off x="8553618" y="3429000"/>
            <a:ext cx="1540064" cy="872583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4B80A45-1E13-4BA8-A4B2-172FC8E2495E}"/>
              </a:ext>
            </a:extLst>
          </p:cNvPr>
          <p:cNvSpPr/>
          <p:nvPr/>
        </p:nvSpPr>
        <p:spPr>
          <a:xfrm>
            <a:off x="8563750" y="1919111"/>
            <a:ext cx="1540064" cy="1437355"/>
          </a:xfrm>
          <a:prstGeom prst="rect">
            <a:avLst/>
          </a:prstGeom>
          <a:noFill/>
          <a:ln w="19050"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A6673272-F708-4F66-AD78-117D5CB472AE}"/>
              </a:ext>
            </a:extLst>
          </p:cNvPr>
          <p:cNvGrpSpPr/>
          <p:nvPr/>
        </p:nvGrpSpPr>
        <p:grpSpPr>
          <a:xfrm>
            <a:off x="6445848" y="5032022"/>
            <a:ext cx="5228187" cy="1558482"/>
            <a:chOff x="6445848" y="5032022"/>
            <a:chExt cx="5228187" cy="1558482"/>
          </a:xfrm>
        </p:grpSpPr>
        <p:pic>
          <p:nvPicPr>
            <p:cNvPr id="9" name="Imagen 8" descr="Forma&#10;&#10;Descripción generada automáticamente con confianza baja">
              <a:extLst>
                <a:ext uri="{FF2B5EF4-FFF2-40B4-BE49-F238E27FC236}">
                  <a16:creationId xmlns:a16="http://schemas.microsoft.com/office/drawing/2014/main" id="{12FDF080-A60B-41D0-B5C4-48B71DB08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5848" y="5032022"/>
              <a:ext cx="1171222" cy="1171222"/>
            </a:xfrm>
            <a:prstGeom prst="rect">
              <a:avLst/>
            </a:prstGeom>
          </p:spPr>
        </p:pic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7D975B8-5EBD-462E-9492-D76E4D42E784}"/>
                </a:ext>
              </a:extLst>
            </p:cNvPr>
            <p:cNvSpPr txBox="1"/>
            <p:nvPr/>
          </p:nvSpPr>
          <p:spPr>
            <a:xfrm>
              <a:off x="7926053" y="5113176"/>
              <a:ext cx="3747982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El </a:t>
              </a:r>
              <a:r>
                <a:rPr lang="es-MX" b="1" dirty="0">
                  <a:solidFill>
                    <a:srgbClr val="FF0000"/>
                  </a:solidFill>
                </a:rPr>
                <a:t>riesgo reputacional </a:t>
              </a:r>
              <a:r>
                <a:rPr lang="es-MX" dirty="0"/>
                <a:t>podría afectar de manera importante el buen nombre de la organización como administrador de los recursos</a:t>
              </a:r>
              <a:endParaRPr lang="es-CO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11754F0-54C5-4F5B-8C88-5C3A039078D1}"/>
                  </a:ext>
                </a:extLst>
              </p:cNvPr>
              <p:cNvSpPr txBox="1"/>
              <p:nvPr/>
            </p:nvSpPr>
            <p:spPr>
              <a:xfrm>
                <a:off x="3828613" y="4464517"/>
                <a:ext cx="3504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𝑅𝑒𝑡𝑖𝑟𝑜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𝑁𝑒𝑡𝑜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𝐴𝑝𝑜𝑟𝑡𝑒𝑠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𝑅𝑒𝑡𝑖𝑟𝑜𝑠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F11754F0-54C5-4F5B-8C88-5C3A03907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613" y="4464517"/>
                <a:ext cx="3504549" cy="276999"/>
              </a:xfrm>
              <a:prstGeom prst="rect">
                <a:avLst/>
              </a:prstGeom>
              <a:blipFill>
                <a:blip r:embed="rId12"/>
                <a:stretch>
                  <a:fillRect l="-1043" r="-1043" b="-3478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98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403DB2-CD32-4EC5-8CDB-AF6A6151CD42}"/>
              </a:ext>
            </a:extLst>
          </p:cNvPr>
          <p:cNvSpPr txBox="1"/>
          <p:nvPr/>
        </p:nvSpPr>
        <p:spPr>
          <a:xfrm>
            <a:off x="481584" y="97536"/>
            <a:ext cx="10198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00000"/>
                </a:solidFill>
              </a:rPr>
              <a:t>Descripción del problema de Analítica</a:t>
            </a:r>
            <a:endParaRPr lang="es-CO" sz="3200" dirty="0">
              <a:solidFill>
                <a:srgbClr val="C0000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971D4EE-1A27-47FA-8BF2-230E6F3E6198}"/>
              </a:ext>
            </a:extLst>
          </p:cNvPr>
          <p:cNvSpPr txBox="1"/>
          <p:nvPr/>
        </p:nvSpPr>
        <p:spPr>
          <a:xfrm>
            <a:off x="682906" y="879675"/>
            <a:ext cx="11204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El principal objetivo está enfocado en desarrollar un modelo de analítica predictiva que permita estimar el retiro probable a 1 día de los diferentes fondos administrados por Fiduciaria Davivienda</a:t>
            </a:r>
            <a:endParaRPr lang="es-CO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EE44836-2FD1-486E-8FB5-D9840CF9E1A4}"/>
              </a:ext>
            </a:extLst>
          </p:cNvPr>
          <p:cNvSpPr txBox="1"/>
          <p:nvPr/>
        </p:nvSpPr>
        <p:spPr>
          <a:xfrm>
            <a:off x="481584" y="1931980"/>
            <a:ext cx="10198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00000"/>
                </a:solidFill>
              </a:rPr>
              <a:t>Descripción de los datos Usados</a:t>
            </a:r>
            <a:endParaRPr lang="es-CO" sz="3200" dirty="0">
              <a:solidFill>
                <a:srgbClr val="C00000"/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DE79C18-5C45-493E-8CCB-F33518D26B44}"/>
              </a:ext>
            </a:extLst>
          </p:cNvPr>
          <p:cNvGrpSpPr/>
          <p:nvPr/>
        </p:nvGrpSpPr>
        <p:grpSpPr>
          <a:xfrm>
            <a:off x="1230488" y="2675746"/>
            <a:ext cx="3059289" cy="879675"/>
            <a:chOff x="1230488" y="2675746"/>
            <a:chExt cx="3059289" cy="879675"/>
          </a:xfrm>
        </p:grpSpPr>
        <p:pic>
          <p:nvPicPr>
            <p:cNvPr id="14" name="Imagen 13" descr="Icono&#10;&#10;Descripción generada automáticamente">
              <a:extLst>
                <a:ext uri="{FF2B5EF4-FFF2-40B4-BE49-F238E27FC236}">
                  <a16:creationId xmlns:a16="http://schemas.microsoft.com/office/drawing/2014/main" id="{5D9BA040-E247-424E-AA55-73AB15AA1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0488" y="2675746"/>
              <a:ext cx="879675" cy="879675"/>
            </a:xfrm>
            <a:prstGeom prst="rect">
              <a:avLst/>
            </a:prstGeom>
          </p:spPr>
        </p:pic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AA025BE5-7282-4866-A937-0D6CC89C51BA}"/>
                </a:ext>
              </a:extLst>
            </p:cNvPr>
            <p:cNvSpPr txBox="1"/>
            <p:nvPr/>
          </p:nvSpPr>
          <p:spPr>
            <a:xfrm>
              <a:off x="2110162" y="2922729"/>
              <a:ext cx="21796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/>
                <a:t>www.datos.gov.co</a:t>
              </a:r>
              <a:endParaRPr lang="es-CO" b="1" dirty="0"/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A2184A1-937D-495E-A08F-2727F0A429B1}"/>
              </a:ext>
            </a:extLst>
          </p:cNvPr>
          <p:cNvSpPr txBox="1"/>
          <p:nvPr/>
        </p:nvSpPr>
        <p:spPr>
          <a:xfrm>
            <a:off x="7534902" y="3147094"/>
            <a:ext cx="220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240.289 Registros</a:t>
            </a:r>
            <a:endParaRPr lang="es-CO" b="1" dirty="0"/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3FAAE552-B587-435C-A263-ED90844C2345}"/>
              </a:ext>
            </a:extLst>
          </p:cNvPr>
          <p:cNvGrpSpPr/>
          <p:nvPr/>
        </p:nvGrpSpPr>
        <p:grpSpPr>
          <a:xfrm>
            <a:off x="2832549" y="3829923"/>
            <a:ext cx="1941759" cy="2297813"/>
            <a:chOff x="2832549" y="3829923"/>
            <a:chExt cx="1941759" cy="2297813"/>
          </a:xfrm>
        </p:grpSpPr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FCB42E3-034E-43EC-83C2-83194C8BDD72}"/>
                </a:ext>
              </a:extLst>
            </p:cNvPr>
            <p:cNvSpPr/>
            <p:nvPr/>
          </p:nvSpPr>
          <p:spPr>
            <a:xfrm>
              <a:off x="3448724" y="3829923"/>
              <a:ext cx="778933" cy="742245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11Var</a:t>
              </a:r>
              <a:endParaRPr lang="es-CO" dirty="0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118046B0-D9C4-4237-A774-6A4C54852838}"/>
                </a:ext>
              </a:extLst>
            </p:cNvPr>
            <p:cNvSpPr txBox="1"/>
            <p:nvPr/>
          </p:nvSpPr>
          <p:spPr>
            <a:xfrm>
              <a:off x="2832549" y="4650408"/>
              <a:ext cx="194175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/>
                <a:t>Fecha</a:t>
              </a:r>
            </a:p>
            <a:p>
              <a:pPr algn="ctr"/>
              <a:r>
                <a:rPr lang="es-MX" dirty="0"/>
                <a:t>Nombre Entidad</a:t>
              </a:r>
            </a:p>
            <a:p>
              <a:pPr algn="ctr"/>
              <a:r>
                <a:rPr lang="es-MX" dirty="0"/>
                <a:t>Código Entidad</a:t>
              </a:r>
            </a:p>
            <a:p>
              <a:pPr algn="ctr"/>
              <a:r>
                <a:rPr lang="es-MX" dirty="0"/>
                <a:t>Nombre Fondo</a:t>
              </a:r>
            </a:p>
            <a:p>
              <a:pPr algn="ctr"/>
              <a:r>
                <a:rPr lang="es-MX" dirty="0"/>
                <a:t>Código Fondo</a:t>
              </a:r>
              <a:endParaRPr lang="es-CO" dirty="0"/>
            </a:p>
          </p:txBody>
        </p:sp>
      </p:grpSp>
      <p:sp>
        <p:nvSpPr>
          <p:cNvPr id="40" name="Elipse 39">
            <a:extLst>
              <a:ext uri="{FF2B5EF4-FFF2-40B4-BE49-F238E27FC236}">
                <a16:creationId xmlns:a16="http://schemas.microsoft.com/office/drawing/2014/main" id="{C741E607-12BD-4557-A524-ECAC666E73F6}"/>
              </a:ext>
            </a:extLst>
          </p:cNvPr>
          <p:cNvSpPr/>
          <p:nvPr/>
        </p:nvSpPr>
        <p:spPr>
          <a:xfrm>
            <a:off x="6457242" y="3292061"/>
            <a:ext cx="778933" cy="742245"/>
          </a:xfrm>
          <a:prstGeom prst="ellipse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6 Var</a:t>
            </a:r>
            <a:endParaRPr lang="es-CO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A5CFFC3-7269-4F36-A651-36F51CD02390}"/>
              </a:ext>
            </a:extLst>
          </p:cNvPr>
          <p:cNvSpPr/>
          <p:nvPr/>
        </p:nvSpPr>
        <p:spPr>
          <a:xfrm>
            <a:off x="6389510" y="4244622"/>
            <a:ext cx="5147734" cy="2286022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Fecha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Código de Entidad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Código del Fondo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Valor del fondo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Retiro Neto: Columna Derivada de Aportes menos Retiros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tx1"/>
                </a:solidFill>
              </a:rPr>
              <a:t>Valor de Unidad.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F05C5E2F-4FCD-439E-BB38-ACB672C7A107}"/>
              </a:ext>
            </a:extLst>
          </p:cNvPr>
          <p:cNvSpPr txBox="1"/>
          <p:nvPr/>
        </p:nvSpPr>
        <p:spPr>
          <a:xfrm>
            <a:off x="7534902" y="3438709"/>
            <a:ext cx="220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2015-2021</a:t>
            </a:r>
            <a:endParaRPr lang="es-CO" b="1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CD260CF-3567-4071-A73E-7F6AB6D31DD8}"/>
              </a:ext>
            </a:extLst>
          </p:cNvPr>
          <p:cNvSpPr txBox="1"/>
          <p:nvPr/>
        </p:nvSpPr>
        <p:spPr>
          <a:xfrm>
            <a:off x="7534902" y="3766066"/>
            <a:ext cx="220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13 Entidades</a:t>
            </a:r>
            <a:endParaRPr lang="es-CO" b="1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05A4758-C7E9-4CCE-B469-39633BA02CAB}"/>
              </a:ext>
            </a:extLst>
          </p:cNvPr>
          <p:cNvGrpSpPr/>
          <p:nvPr/>
        </p:nvGrpSpPr>
        <p:grpSpPr>
          <a:xfrm>
            <a:off x="1608238" y="3829923"/>
            <a:ext cx="879675" cy="1189817"/>
            <a:chOff x="1608238" y="3829923"/>
            <a:chExt cx="879675" cy="1189817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1C5329C7-A14E-462E-A813-77DE8189CA39}"/>
                </a:ext>
              </a:extLst>
            </p:cNvPr>
            <p:cNvSpPr/>
            <p:nvPr/>
          </p:nvSpPr>
          <p:spPr>
            <a:xfrm>
              <a:off x="1658610" y="3829923"/>
              <a:ext cx="778933" cy="742245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25Var</a:t>
              </a:r>
              <a:endParaRPr lang="es-CO" dirty="0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24F85C3F-C74E-4461-A9A7-FA252FB2EB33}"/>
                </a:ext>
              </a:extLst>
            </p:cNvPr>
            <p:cNvSpPr txBox="1"/>
            <p:nvPr/>
          </p:nvSpPr>
          <p:spPr>
            <a:xfrm>
              <a:off x="1608238" y="4650408"/>
              <a:ext cx="879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/>
                <a:t>&gt; 2 M</a:t>
              </a:r>
              <a:endParaRPr lang="es-CO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0037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40" grpId="0" animBg="1"/>
      <p:bldP spid="16" grpId="0" animBg="1"/>
      <p:bldP spid="42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403DB2-CD32-4EC5-8CDB-AF6A6151CD42}"/>
              </a:ext>
            </a:extLst>
          </p:cNvPr>
          <p:cNvSpPr txBox="1"/>
          <p:nvPr/>
        </p:nvSpPr>
        <p:spPr>
          <a:xfrm>
            <a:off x="481584" y="97536"/>
            <a:ext cx="10198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00000"/>
                </a:solidFill>
              </a:rPr>
              <a:t>Principales hallazgos IDA</a:t>
            </a:r>
            <a:endParaRPr lang="es-CO" sz="3200" dirty="0">
              <a:solidFill>
                <a:srgbClr val="C00000"/>
              </a:solidFill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971D4EE-1A27-47FA-8BF2-230E6F3E6198}"/>
              </a:ext>
            </a:extLst>
          </p:cNvPr>
          <p:cNvSpPr txBox="1"/>
          <p:nvPr/>
        </p:nvSpPr>
        <p:spPr>
          <a:xfrm>
            <a:off x="626461" y="857097"/>
            <a:ext cx="112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b="1" dirty="0"/>
              <a:t>Caracterización de la Industria</a:t>
            </a:r>
            <a:endParaRPr lang="es-CO" b="1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D02F0BB-90AB-4C27-AE96-505552BFDE06}"/>
              </a:ext>
            </a:extLst>
          </p:cNvPr>
          <p:cNvGrpSpPr/>
          <p:nvPr/>
        </p:nvGrpSpPr>
        <p:grpSpPr>
          <a:xfrm>
            <a:off x="5342822" y="2085247"/>
            <a:ext cx="1817511" cy="1083741"/>
            <a:chOff x="5342822" y="2085247"/>
            <a:chExt cx="1817511" cy="1083741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88F587C-5E3E-46CF-BC08-68F476FF45CC}"/>
                </a:ext>
              </a:extLst>
            </p:cNvPr>
            <p:cNvSpPr txBox="1"/>
            <p:nvPr/>
          </p:nvSpPr>
          <p:spPr>
            <a:xfrm>
              <a:off x="5788251" y="2768878"/>
              <a:ext cx="926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b="1" dirty="0"/>
                <a:t>10%</a:t>
              </a:r>
              <a:endParaRPr lang="es-CO" sz="2000" b="1" dirty="0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54186B5B-0298-4E04-A82D-E3C9D9806F3B}"/>
                </a:ext>
              </a:extLst>
            </p:cNvPr>
            <p:cNvSpPr/>
            <p:nvPr/>
          </p:nvSpPr>
          <p:spPr>
            <a:xfrm>
              <a:off x="5342822" y="2085247"/>
              <a:ext cx="1817511" cy="54186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Saldo Sobre Obligatorias</a:t>
              </a:r>
              <a:endParaRPr lang="es-CO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055BAB57-6F01-4281-9941-80E5CA42D634}"/>
              </a:ext>
            </a:extLst>
          </p:cNvPr>
          <p:cNvGrpSpPr/>
          <p:nvPr/>
        </p:nvGrpSpPr>
        <p:grpSpPr>
          <a:xfrm>
            <a:off x="7425619" y="2085247"/>
            <a:ext cx="1817511" cy="1083741"/>
            <a:chOff x="7425619" y="2085247"/>
            <a:chExt cx="1817511" cy="1083741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8D167BD-0295-455D-8723-DE4695807324}"/>
                </a:ext>
              </a:extLst>
            </p:cNvPr>
            <p:cNvSpPr txBox="1"/>
            <p:nvPr/>
          </p:nvSpPr>
          <p:spPr>
            <a:xfrm>
              <a:off x="7871048" y="2768878"/>
              <a:ext cx="926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b="1" dirty="0"/>
                <a:t>7.5%</a:t>
              </a:r>
              <a:endParaRPr lang="es-CO" sz="2000" b="1" dirty="0"/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286FC32C-9A71-49BC-933B-A8B94BBFE778}"/>
                </a:ext>
              </a:extLst>
            </p:cNvPr>
            <p:cNvSpPr/>
            <p:nvPr/>
          </p:nvSpPr>
          <p:spPr>
            <a:xfrm>
              <a:off x="7425619" y="2085247"/>
              <a:ext cx="1817511" cy="54186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Participación </a:t>
              </a:r>
              <a:r>
                <a:rPr lang="es-MX" dirty="0" err="1"/>
                <a:t>Fidudavivienda</a:t>
              </a:r>
              <a:endParaRPr lang="es-CO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50F605E-12B1-4C18-B745-3935525C7C3C}"/>
              </a:ext>
            </a:extLst>
          </p:cNvPr>
          <p:cNvGrpSpPr/>
          <p:nvPr/>
        </p:nvGrpSpPr>
        <p:grpSpPr>
          <a:xfrm>
            <a:off x="9508416" y="2085247"/>
            <a:ext cx="1817511" cy="1083741"/>
            <a:chOff x="9508416" y="2085247"/>
            <a:chExt cx="1817511" cy="1083741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A014A5E-7B5E-4098-981E-39D682EA1B19}"/>
                </a:ext>
              </a:extLst>
            </p:cNvPr>
            <p:cNvSpPr txBox="1"/>
            <p:nvPr/>
          </p:nvSpPr>
          <p:spPr>
            <a:xfrm>
              <a:off x="9953845" y="2768878"/>
              <a:ext cx="926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2000" b="1" dirty="0"/>
                <a:t>89%</a:t>
              </a:r>
              <a:endParaRPr lang="es-CO" sz="2000" b="1" dirty="0"/>
            </a:p>
          </p:txBody>
        </p:sp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5CB1B8D1-3994-4A74-90C4-2085BC370555}"/>
                </a:ext>
              </a:extLst>
            </p:cNvPr>
            <p:cNvSpPr/>
            <p:nvPr/>
          </p:nvSpPr>
          <p:spPr>
            <a:xfrm>
              <a:off x="9508416" y="2085247"/>
              <a:ext cx="1817511" cy="54186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/>
                <a:t>Crecimiento desde 2015</a:t>
              </a:r>
              <a:endParaRPr lang="es-CO" dirty="0"/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2889C60-C572-4B2F-949E-6869BA7ACA70}"/>
              </a:ext>
            </a:extLst>
          </p:cNvPr>
          <p:cNvSpPr txBox="1"/>
          <p:nvPr/>
        </p:nvSpPr>
        <p:spPr>
          <a:xfrm>
            <a:off x="649429" y="3967573"/>
            <a:ext cx="11204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s-MX" b="1" dirty="0"/>
              <a:t>Dinámica principal variable (Retiros Netos)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6BAA02-9081-4F19-B736-B9C5577D1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26" y="4271766"/>
            <a:ext cx="3594787" cy="248869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A6B2DF8-AA9D-4F8D-9F05-85C3B4D31D8D}"/>
              </a:ext>
            </a:extLst>
          </p:cNvPr>
          <p:cNvSpPr txBox="1"/>
          <p:nvPr/>
        </p:nvSpPr>
        <p:spPr>
          <a:xfrm>
            <a:off x="6714902" y="4402552"/>
            <a:ext cx="4354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dirty="0"/>
              <a:t>El mes de Marzo 2020 presentó eventos de alta severidad en los valores de retiros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dirty="0"/>
              <a:t>El mes de diciembre resalta por ser un caso de mayores niveles de retiros frente a los demás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F45D683-9587-4064-8588-B7E6A830FD57}"/>
                  </a:ext>
                </a:extLst>
              </p:cNvPr>
              <p:cNvSpPr txBox="1"/>
              <p:nvPr/>
            </p:nvSpPr>
            <p:spPr>
              <a:xfrm>
                <a:off x="1599264" y="4858491"/>
                <a:ext cx="3504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𝑅𝑒𝑡𝑖𝑟𝑜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𝑁𝑒𝑡𝑜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𝐴𝑝𝑜𝑟𝑡𝑒𝑠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𝑅𝑒𝑡𝑖𝑟𝑜𝑠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F45D683-9587-4064-8588-B7E6A830F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264" y="4858491"/>
                <a:ext cx="3504549" cy="276999"/>
              </a:xfrm>
              <a:prstGeom prst="rect">
                <a:avLst/>
              </a:prstGeom>
              <a:blipFill>
                <a:blip r:embed="rId3"/>
                <a:stretch>
                  <a:fillRect l="-1043" r="-1043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agen 17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9E87D816-F68B-4485-B418-130A9B7B0F2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66073" y="1258941"/>
            <a:ext cx="3983719" cy="26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0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23" grpId="0"/>
      <p:bldP spid="8" grpId="0"/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403DB2-CD32-4EC5-8CDB-AF6A6151CD42}"/>
              </a:ext>
            </a:extLst>
          </p:cNvPr>
          <p:cNvSpPr txBox="1"/>
          <p:nvPr/>
        </p:nvSpPr>
        <p:spPr>
          <a:xfrm>
            <a:off x="481584" y="97536"/>
            <a:ext cx="10198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00000"/>
                </a:solidFill>
              </a:rPr>
              <a:t>Análisis variable central de estudio</a:t>
            </a:r>
            <a:endParaRPr lang="es-CO" sz="3200" dirty="0">
              <a:solidFill>
                <a:srgbClr val="C00000"/>
              </a:solidFill>
            </a:endParaRPr>
          </a:p>
        </p:txBody>
      </p:sp>
      <p:pic>
        <p:nvPicPr>
          <p:cNvPr id="24" name="Imagen 23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EF6A1528-013B-4C5F-8D85-D17E4FEB8F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8361" y="990916"/>
            <a:ext cx="3887506" cy="2768283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A55F06D7-7F2B-498D-B36E-1DC0EAE09FF8}"/>
              </a:ext>
            </a:extLst>
          </p:cNvPr>
          <p:cNvGrpSpPr/>
          <p:nvPr/>
        </p:nvGrpSpPr>
        <p:grpSpPr>
          <a:xfrm>
            <a:off x="5315602" y="1081733"/>
            <a:ext cx="5624234" cy="2347267"/>
            <a:chOff x="5315602" y="1081733"/>
            <a:chExt cx="5624234" cy="2347267"/>
          </a:xfrm>
        </p:grpSpPr>
        <p:pic>
          <p:nvPicPr>
            <p:cNvPr id="25" name="Imagen 24" descr="Texto&#10;&#10;Descripción generada automáticamente">
              <a:extLst>
                <a:ext uri="{FF2B5EF4-FFF2-40B4-BE49-F238E27FC236}">
                  <a16:creationId xmlns:a16="http://schemas.microsoft.com/office/drawing/2014/main" id="{301EFE5E-220D-4E1C-B143-E93A903B9FA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273902" y="1081733"/>
              <a:ext cx="3665934" cy="2347267"/>
            </a:xfrm>
            <a:prstGeom prst="rect">
              <a:avLst/>
            </a:prstGeom>
          </p:spPr>
        </p:pic>
        <p:pic>
          <p:nvPicPr>
            <p:cNvPr id="6" name="Imagen 5" descr="Forma&#10;&#10;Descripción generada automáticamente con confianza baja">
              <a:extLst>
                <a:ext uri="{FF2B5EF4-FFF2-40B4-BE49-F238E27FC236}">
                  <a16:creationId xmlns:a16="http://schemas.microsoft.com/office/drawing/2014/main" id="{6879D11C-153A-4BBF-B96F-6EF364AF5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5602" y="1765995"/>
              <a:ext cx="978741" cy="978741"/>
            </a:xfrm>
            <a:prstGeom prst="rect">
              <a:avLst/>
            </a:prstGeom>
          </p:spPr>
        </p:pic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43303CC-972C-44E0-980B-E3157EE22093}"/>
              </a:ext>
            </a:extLst>
          </p:cNvPr>
          <p:cNvSpPr txBox="1"/>
          <p:nvPr/>
        </p:nvSpPr>
        <p:spPr>
          <a:xfrm>
            <a:off x="625996" y="4067804"/>
            <a:ext cx="112273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evolución de los retiros netos para todos los portafolios administrados se centra alrededor de cero para la mayoría de tiempo en el periodo observado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El periodo de crisis 2020, representó el grupo de días con la mayor cantidad de días con alta severidad observada en el nivel de retiros netos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Contrario a lo que resulta lógico desde una perspectiva de negocio, cuando hay eventos de mercado con pérdidas significativas, no hay indicios de que se presenten retiros en los portafolios</a:t>
            </a:r>
            <a:endParaRPr lang="es-C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B05A431-3AED-43E1-A977-0D6A3D87CE5C}"/>
                  </a:ext>
                </a:extLst>
              </p:cNvPr>
              <p:cNvSpPr txBox="1"/>
              <p:nvPr/>
            </p:nvSpPr>
            <p:spPr>
              <a:xfrm>
                <a:off x="4206997" y="682311"/>
                <a:ext cx="3504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𝑅𝑒𝑡𝑖𝑟𝑜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𝑁𝑒𝑡𝑜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𝐴𝑝𝑜𝑟𝑡𝑒𝑠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𝑅𝑒𝑡𝑖𝑟𝑜𝑠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B05A431-3AED-43E1-A977-0D6A3D87C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997" y="682311"/>
                <a:ext cx="3504549" cy="276999"/>
              </a:xfrm>
              <a:prstGeom prst="rect">
                <a:avLst/>
              </a:prstGeom>
              <a:blipFill>
                <a:blip r:embed="rId5"/>
                <a:stretch>
                  <a:fillRect l="-1043" r="-1043" b="-355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071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403DB2-CD32-4EC5-8CDB-AF6A6151CD42}"/>
              </a:ext>
            </a:extLst>
          </p:cNvPr>
          <p:cNvSpPr txBox="1"/>
          <p:nvPr/>
        </p:nvSpPr>
        <p:spPr>
          <a:xfrm>
            <a:off x="481584" y="97536"/>
            <a:ext cx="10198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00000"/>
                </a:solidFill>
              </a:rPr>
              <a:t>Planteamiento de Modelo y resultados</a:t>
            </a:r>
            <a:endParaRPr lang="es-CO" sz="32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70D7C6F-3E10-4F65-8447-CD75C041908B}"/>
                  </a:ext>
                </a:extLst>
              </p:cNvPr>
              <p:cNvSpPr txBox="1"/>
              <p:nvPr/>
            </p:nvSpPr>
            <p:spPr>
              <a:xfrm>
                <a:off x="2698045" y="794917"/>
                <a:ext cx="6096000" cy="848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CO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s-CO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O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s-CO" i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sSub>
                            <m:sSubPr>
                              <m:ctrlPr>
                                <a:rPr lang="es-CO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CO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CO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s-CO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s-CO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CO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CO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O" i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s-CO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s-CO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CO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CO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CO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70D7C6F-3E10-4F65-8447-CD75C0419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045" y="794917"/>
                <a:ext cx="6096000" cy="848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upo 39">
            <a:extLst>
              <a:ext uri="{FF2B5EF4-FFF2-40B4-BE49-F238E27FC236}">
                <a16:creationId xmlns:a16="http://schemas.microsoft.com/office/drawing/2014/main" id="{4DC67623-4AFF-45E3-9ED1-BAF69FD14FDB}"/>
              </a:ext>
            </a:extLst>
          </p:cNvPr>
          <p:cNvGrpSpPr/>
          <p:nvPr/>
        </p:nvGrpSpPr>
        <p:grpSpPr>
          <a:xfrm>
            <a:off x="6987822" y="765745"/>
            <a:ext cx="2867379" cy="923330"/>
            <a:chOff x="6987822" y="765745"/>
            <a:chExt cx="2867379" cy="923330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790723E8-3F43-4806-ABF0-58B3E9EB3E89}"/>
                </a:ext>
              </a:extLst>
            </p:cNvPr>
            <p:cNvSpPr/>
            <p:nvPr/>
          </p:nvSpPr>
          <p:spPr>
            <a:xfrm>
              <a:off x="6987822" y="794917"/>
              <a:ext cx="1219200" cy="848566"/>
            </a:xfrm>
            <a:prstGeom prst="roundRect">
              <a:avLst/>
            </a:prstGeom>
            <a:noFill/>
            <a:ln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E0BC3C73-8E3C-49CD-90BB-72A35597A331}"/>
                </a:ext>
              </a:extLst>
            </p:cNvPr>
            <p:cNvSpPr txBox="1"/>
            <p:nvPr/>
          </p:nvSpPr>
          <p:spPr>
            <a:xfrm>
              <a:off x="8207023" y="765745"/>
              <a:ext cx="164817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>
                  <a:solidFill>
                    <a:schemeClr val="tx2"/>
                  </a:solidFill>
                </a:rPr>
                <a:t>Componente media móvil (ruido Blanco)</a:t>
              </a:r>
              <a:endParaRPr lang="es-CO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4702DD08-988B-40CC-8D3B-BB2EAB8B8356}"/>
              </a:ext>
            </a:extLst>
          </p:cNvPr>
          <p:cNvGrpSpPr/>
          <p:nvPr/>
        </p:nvGrpSpPr>
        <p:grpSpPr>
          <a:xfrm>
            <a:off x="5460266" y="794917"/>
            <a:ext cx="1648178" cy="1489919"/>
            <a:chOff x="5460266" y="794917"/>
            <a:chExt cx="1648178" cy="1489919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FFCA25A3-BA79-4378-A09C-1E426EB76112}"/>
                </a:ext>
              </a:extLst>
            </p:cNvPr>
            <p:cNvSpPr/>
            <p:nvPr/>
          </p:nvSpPr>
          <p:spPr>
            <a:xfrm>
              <a:off x="5580888" y="794917"/>
              <a:ext cx="1219200" cy="848566"/>
            </a:xfrm>
            <a:prstGeom prst="round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1335391B-5AD6-4E2A-93B0-438AF4740451}"/>
                </a:ext>
              </a:extLst>
            </p:cNvPr>
            <p:cNvSpPr txBox="1"/>
            <p:nvPr/>
          </p:nvSpPr>
          <p:spPr>
            <a:xfrm>
              <a:off x="5460266" y="1638505"/>
              <a:ext cx="16481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>
                  <a:solidFill>
                    <a:schemeClr val="accent2"/>
                  </a:solidFill>
                </a:rPr>
                <a:t>Componente autorregresivo</a:t>
              </a:r>
              <a:endParaRPr lang="es-CO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C63E9F9E-C317-40AF-B1FC-D0AC038EC916}"/>
              </a:ext>
            </a:extLst>
          </p:cNvPr>
          <p:cNvGrpSpPr/>
          <p:nvPr/>
        </p:nvGrpSpPr>
        <p:grpSpPr>
          <a:xfrm>
            <a:off x="3894977" y="800560"/>
            <a:ext cx="1648178" cy="1480247"/>
            <a:chOff x="3894977" y="800560"/>
            <a:chExt cx="1648178" cy="1480247"/>
          </a:xfrm>
        </p:grpSpPr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E414BD56-9205-497D-AAE7-7C20148878D6}"/>
                </a:ext>
              </a:extLst>
            </p:cNvPr>
            <p:cNvSpPr/>
            <p:nvPr/>
          </p:nvSpPr>
          <p:spPr>
            <a:xfrm>
              <a:off x="4018846" y="800560"/>
              <a:ext cx="1298842" cy="848566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rgbClr val="C00000"/>
                </a:solidFill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BB856C64-D6AC-4591-A0A3-B406D5F70E6C}"/>
                </a:ext>
              </a:extLst>
            </p:cNvPr>
            <p:cNvSpPr txBox="1"/>
            <p:nvPr/>
          </p:nvSpPr>
          <p:spPr>
            <a:xfrm>
              <a:off x="3894977" y="1634476"/>
              <a:ext cx="16481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>
                  <a:solidFill>
                    <a:srgbClr val="C00000"/>
                  </a:solidFill>
                </a:rPr>
                <a:t>Componente Integración</a:t>
              </a:r>
              <a:endParaRPr lang="es-CO" dirty="0">
                <a:solidFill>
                  <a:srgbClr val="C00000"/>
                </a:solidFill>
              </a:endParaRP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7F4587-EC6E-4F6E-B018-0E73307A314A}"/>
              </a:ext>
            </a:extLst>
          </p:cNvPr>
          <p:cNvSpPr txBox="1"/>
          <p:nvPr/>
        </p:nvSpPr>
        <p:spPr>
          <a:xfrm>
            <a:off x="588341" y="2477399"/>
            <a:ext cx="487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Construcción del indicador de desempeño</a:t>
            </a:r>
            <a:endParaRPr lang="es-CO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C54F1D1-D147-45B5-AD97-FF25269E152A}"/>
                  </a:ext>
                </a:extLst>
              </p:cNvPr>
              <p:cNvSpPr txBox="1"/>
              <p:nvPr/>
            </p:nvSpPr>
            <p:spPr>
              <a:xfrm>
                <a:off x="1540934" y="3039294"/>
                <a:ext cx="274286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𝑅𝑀𝑆𝐸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sub>
                      </m:sSub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𝑅𝑎𝑛𝑔𝑜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1C54F1D1-D147-45B5-AD97-FF25269E1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934" y="3039294"/>
                <a:ext cx="2742867" cy="299569"/>
              </a:xfrm>
              <a:prstGeom prst="rect">
                <a:avLst/>
              </a:prstGeom>
              <a:blipFill>
                <a:blip r:embed="rId3"/>
                <a:stretch>
                  <a:fillRect l="-1556" r="-444" b="-2653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upo 19">
            <a:extLst>
              <a:ext uri="{FF2B5EF4-FFF2-40B4-BE49-F238E27FC236}">
                <a16:creationId xmlns:a16="http://schemas.microsoft.com/office/drawing/2014/main" id="{E9D5BB8E-ACAE-49A0-A4D6-94CCE1384F9C}"/>
              </a:ext>
            </a:extLst>
          </p:cNvPr>
          <p:cNvGrpSpPr/>
          <p:nvPr/>
        </p:nvGrpSpPr>
        <p:grpSpPr>
          <a:xfrm>
            <a:off x="1986843" y="3019299"/>
            <a:ext cx="711201" cy="696793"/>
            <a:chOff x="1986843" y="3019299"/>
            <a:chExt cx="711201" cy="696793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7ED04B5C-0B2F-497E-A3C0-50F43CAD4C0A}"/>
                </a:ext>
              </a:extLst>
            </p:cNvPr>
            <p:cNvSpPr/>
            <p:nvPr/>
          </p:nvSpPr>
          <p:spPr>
            <a:xfrm>
              <a:off x="1986843" y="3019299"/>
              <a:ext cx="711201" cy="369332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9855E030-6E8B-47C1-8DCC-F6D99B020130}"/>
                </a:ext>
              </a:extLst>
            </p:cNvPr>
            <p:cNvSpPr txBox="1"/>
            <p:nvPr/>
          </p:nvSpPr>
          <p:spPr>
            <a:xfrm>
              <a:off x="1986843" y="3346760"/>
              <a:ext cx="711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>
                  <a:solidFill>
                    <a:srgbClr val="C00000"/>
                  </a:solidFill>
                </a:rPr>
                <a:t>20%</a:t>
              </a:r>
              <a:endParaRPr lang="es-CO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0941ECD-FF54-44DC-A34F-2AC51F69F024}"/>
              </a:ext>
            </a:extLst>
          </p:cNvPr>
          <p:cNvGrpSpPr/>
          <p:nvPr/>
        </p:nvGrpSpPr>
        <p:grpSpPr>
          <a:xfrm>
            <a:off x="2771421" y="3036231"/>
            <a:ext cx="711201" cy="700426"/>
            <a:chOff x="2771421" y="3036231"/>
            <a:chExt cx="711201" cy="700426"/>
          </a:xfrm>
        </p:grpSpPr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5C44A05A-04D7-480E-8AEC-820E55A7126B}"/>
                </a:ext>
              </a:extLst>
            </p:cNvPr>
            <p:cNvSpPr/>
            <p:nvPr/>
          </p:nvSpPr>
          <p:spPr>
            <a:xfrm>
              <a:off x="2839153" y="3036231"/>
              <a:ext cx="513647" cy="369332"/>
            </a:xfrm>
            <a:prstGeom prst="round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accent1"/>
                </a:solidFill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E0FE9321-8E9F-4C6F-AE1D-FAC038AD4729}"/>
                </a:ext>
              </a:extLst>
            </p:cNvPr>
            <p:cNvSpPr txBox="1"/>
            <p:nvPr/>
          </p:nvSpPr>
          <p:spPr>
            <a:xfrm>
              <a:off x="2771421" y="3367325"/>
              <a:ext cx="711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>
                  <a:solidFill>
                    <a:schemeClr val="accent1"/>
                  </a:solidFill>
                </a:rPr>
                <a:t>60%</a:t>
              </a:r>
              <a:endParaRPr lang="es-CO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7265CD6-27E2-46BA-A86F-F87D6AADE26E}"/>
              </a:ext>
            </a:extLst>
          </p:cNvPr>
          <p:cNvGrpSpPr/>
          <p:nvPr/>
        </p:nvGrpSpPr>
        <p:grpSpPr>
          <a:xfrm>
            <a:off x="3555999" y="3041874"/>
            <a:ext cx="778933" cy="677230"/>
            <a:chOff x="3555999" y="3041874"/>
            <a:chExt cx="778933" cy="677230"/>
          </a:xfrm>
        </p:grpSpPr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92EF0256-A876-4B73-85DB-14BB7AC84A21}"/>
                </a:ext>
              </a:extLst>
            </p:cNvPr>
            <p:cNvSpPr/>
            <p:nvPr/>
          </p:nvSpPr>
          <p:spPr>
            <a:xfrm>
              <a:off x="3555999" y="3041874"/>
              <a:ext cx="727802" cy="369332"/>
            </a:xfrm>
            <a:prstGeom prst="round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rgbClr val="C00000"/>
                </a:solidFill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360E94FF-B5BB-46D1-87F4-A9E1BDFCC229}"/>
                </a:ext>
              </a:extLst>
            </p:cNvPr>
            <p:cNvSpPr txBox="1"/>
            <p:nvPr/>
          </p:nvSpPr>
          <p:spPr>
            <a:xfrm>
              <a:off x="3623731" y="3349772"/>
              <a:ext cx="711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b="1" dirty="0">
                  <a:solidFill>
                    <a:srgbClr val="C00000"/>
                  </a:solidFill>
                </a:rPr>
                <a:t>20%</a:t>
              </a:r>
              <a:endParaRPr lang="es-CO" b="1" dirty="0">
                <a:solidFill>
                  <a:srgbClr val="C00000"/>
                </a:solidFill>
              </a:endParaRPr>
            </a:p>
          </p:txBody>
        </p:sp>
      </p:grpSp>
      <p:pic>
        <p:nvPicPr>
          <p:cNvPr id="19" name="Imagen 18" descr="Tabla&#10;&#10;Descripción generada automáticamente">
            <a:extLst>
              <a:ext uri="{FF2B5EF4-FFF2-40B4-BE49-F238E27FC236}">
                <a16:creationId xmlns:a16="http://schemas.microsoft.com/office/drawing/2014/main" id="{DF5E26E4-D69E-47FA-A6AC-DE5341C2080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88340" y="3796338"/>
            <a:ext cx="4871925" cy="2356106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19164F90-1378-4BAD-9393-095EFE1A0BC9}"/>
              </a:ext>
            </a:extLst>
          </p:cNvPr>
          <p:cNvSpPr txBox="1"/>
          <p:nvPr/>
        </p:nvSpPr>
        <p:spPr>
          <a:xfrm>
            <a:off x="6731737" y="2487071"/>
            <a:ext cx="487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/>
              <a:t>Proceso de Aprendizaje</a:t>
            </a:r>
            <a:endParaRPr lang="es-CO" b="1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B974A496-E9CD-4212-8B8B-C4C966752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039" y="3223915"/>
            <a:ext cx="4876190" cy="3149206"/>
          </a:xfrm>
          <a:prstGeom prst="rect">
            <a:avLst/>
          </a:prstGeom>
        </p:spPr>
      </p:pic>
      <p:grpSp>
        <p:nvGrpSpPr>
          <p:cNvPr id="39" name="Grupo 38">
            <a:extLst>
              <a:ext uri="{FF2B5EF4-FFF2-40B4-BE49-F238E27FC236}">
                <a16:creationId xmlns:a16="http://schemas.microsoft.com/office/drawing/2014/main" id="{0027A0C3-82C7-4AD4-B17F-6AC6F71844E7}"/>
              </a:ext>
            </a:extLst>
          </p:cNvPr>
          <p:cNvGrpSpPr/>
          <p:nvPr/>
        </p:nvGrpSpPr>
        <p:grpSpPr>
          <a:xfrm>
            <a:off x="10295467" y="3327565"/>
            <a:ext cx="609597" cy="2741158"/>
            <a:chOff x="10295467" y="3327565"/>
            <a:chExt cx="609597" cy="2741158"/>
          </a:xfrm>
        </p:grpSpPr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EEFD6807-1EDB-4D46-9493-FFC87FFA442E}"/>
                </a:ext>
              </a:extLst>
            </p:cNvPr>
            <p:cNvCxnSpPr>
              <a:cxnSpLocks/>
            </p:cNvCxnSpPr>
            <p:nvPr/>
          </p:nvCxnSpPr>
          <p:spPr>
            <a:xfrm>
              <a:off x="10295467" y="3338863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7ADD8202-7C48-48C4-BD07-0263E42BA23C}"/>
                </a:ext>
              </a:extLst>
            </p:cNvPr>
            <p:cNvCxnSpPr>
              <a:cxnSpLocks/>
            </p:cNvCxnSpPr>
            <p:nvPr/>
          </p:nvCxnSpPr>
          <p:spPr>
            <a:xfrm>
              <a:off x="10357555" y="3333217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D473D20F-0ED6-481B-A7FA-24B814D14EE1}"/>
                </a:ext>
              </a:extLst>
            </p:cNvPr>
            <p:cNvCxnSpPr>
              <a:cxnSpLocks/>
            </p:cNvCxnSpPr>
            <p:nvPr/>
          </p:nvCxnSpPr>
          <p:spPr>
            <a:xfrm>
              <a:off x="10408354" y="3338860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FBEC2712-46ED-48E6-80CC-4768C969DC5B}"/>
                </a:ext>
              </a:extLst>
            </p:cNvPr>
            <p:cNvCxnSpPr>
              <a:cxnSpLocks/>
            </p:cNvCxnSpPr>
            <p:nvPr/>
          </p:nvCxnSpPr>
          <p:spPr>
            <a:xfrm>
              <a:off x="10470442" y="3344503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464845A7-2418-4083-A9A2-E16FEF43F47F}"/>
                </a:ext>
              </a:extLst>
            </p:cNvPr>
            <p:cNvCxnSpPr>
              <a:cxnSpLocks/>
            </p:cNvCxnSpPr>
            <p:nvPr/>
          </p:nvCxnSpPr>
          <p:spPr>
            <a:xfrm>
              <a:off x="10532530" y="3338857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9B0004CA-59B6-4D9A-AAA1-BF7A3D548767}"/>
                </a:ext>
              </a:extLst>
            </p:cNvPr>
            <p:cNvCxnSpPr>
              <a:cxnSpLocks/>
            </p:cNvCxnSpPr>
            <p:nvPr/>
          </p:nvCxnSpPr>
          <p:spPr>
            <a:xfrm>
              <a:off x="10605907" y="3333211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3BE7D3AB-A2E7-4878-BB61-3F26A41E9FD8}"/>
                </a:ext>
              </a:extLst>
            </p:cNvPr>
            <p:cNvCxnSpPr>
              <a:cxnSpLocks/>
            </p:cNvCxnSpPr>
            <p:nvPr/>
          </p:nvCxnSpPr>
          <p:spPr>
            <a:xfrm>
              <a:off x="10679290" y="3327571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81337FE9-587A-4175-8084-8FC3480FD2FE}"/>
                </a:ext>
              </a:extLst>
            </p:cNvPr>
            <p:cNvCxnSpPr>
              <a:cxnSpLocks/>
            </p:cNvCxnSpPr>
            <p:nvPr/>
          </p:nvCxnSpPr>
          <p:spPr>
            <a:xfrm>
              <a:off x="10730089" y="3333214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BF2B5A18-8024-45A5-89C1-82F4B68359B9}"/>
                </a:ext>
              </a:extLst>
            </p:cNvPr>
            <p:cNvCxnSpPr>
              <a:cxnSpLocks/>
            </p:cNvCxnSpPr>
            <p:nvPr/>
          </p:nvCxnSpPr>
          <p:spPr>
            <a:xfrm>
              <a:off x="10792177" y="3338857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CC554EAF-F4D7-47F9-8ED2-5695FD52BAA9}"/>
                </a:ext>
              </a:extLst>
            </p:cNvPr>
            <p:cNvCxnSpPr>
              <a:cxnSpLocks/>
            </p:cNvCxnSpPr>
            <p:nvPr/>
          </p:nvCxnSpPr>
          <p:spPr>
            <a:xfrm>
              <a:off x="10854265" y="3333211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3996DFA0-FC53-4E1C-8293-F295C868F5FA}"/>
                </a:ext>
              </a:extLst>
            </p:cNvPr>
            <p:cNvCxnSpPr>
              <a:cxnSpLocks/>
            </p:cNvCxnSpPr>
            <p:nvPr/>
          </p:nvCxnSpPr>
          <p:spPr>
            <a:xfrm>
              <a:off x="10905064" y="3327565"/>
              <a:ext cx="0" cy="272422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6201B08B-9D96-4D24-82C9-127D9B07CA60}"/>
              </a:ext>
            </a:extLst>
          </p:cNvPr>
          <p:cNvSpPr/>
          <p:nvPr/>
        </p:nvSpPr>
        <p:spPr>
          <a:xfrm>
            <a:off x="584075" y="4691152"/>
            <a:ext cx="4876189" cy="19831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980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3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403DB2-CD32-4EC5-8CDB-AF6A6151CD42}"/>
              </a:ext>
            </a:extLst>
          </p:cNvPr>
          <p:cNvSpPr txBox="1"/>
          <p:nvPr/>
        </p:nvSpPr>
        <p:spPr>
          <a:xfrm>
            <a:off x="481584" y="97536"/>
            <a:ext cx="10198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00000"/>
                </a:solidFill>
              </a:rPr>
              <a:t>Planteamiento de Modelo y resultados</a:t>
            </a:r>
            <a:endParaRPr lang="es-CO" sz="3200" dirty="0">
              <a:solidFill>
                <a:srgbClr val="C00000"/>
              </a:solidFill>
            </a:endParaRPr>
          </a:p>
        </p:txBody>
      </p:sp>
      <p:pic>
        <p:nvPicPr>
          <p:cNvPr id="43" name="Imagen 42" descr="Tabla&#10;&#10;Descripción generada automáticamente">
            <a:extLst>
              <a:ext uri="{FF2B5EF4-FFF2-40B4-BE49-F238E27FC236}">
                <a16:creationId xmlns:a16="http://schemas.microsoft.com/office/drawing/2014/main" id="{6B36200B-4A42-4CE7-9195-86086B2C0B9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7116" y="2608041"/>
            <a:ext cx="5458884" cy="2742893"/>
          </a:xfrm>
          <a:prstGeom prst="rect">
            <a:avLst/>
          </a:prstGeom>
        </p:spPr>
      </p:pic>
      <p:grpSp>
        <p:nvGrpSpPr>
          <p:cNvPr id="26" name="Grupo 25">
            <a:extLst>
              <a:ext uri="{FF2B5EF4-FFF2-40B4-BE49-F238E27FC236}">
                <a16:creationId xmlns:a16="http://schemas.microsoft.com/office/drawing/2014/main" id="{E03D9433-425D-4104-A819-5B1222FBB6C8}"/>
              </a:ext>
            </a:extLst>
          </p:cNvPr>
          <p:cNvGrpSpPr/>
          <p:nvPr/>
        </p:nvGrpSpPr>
        <p:grpSpPr>
          <a:xfrm>
            <a:off x="2291644" y="2731913"/>
            <a:ext cx="1343378" cy="3265352"/>
            <a:chOff x="2291644" y="2020712"/>
            <a:chExt cx="1343378" cy="3265352"/>
          </a:xfrm>
        </p:grpSpPr>
        <p:sp>
          <p:nvSpPr>
            <p:cNvPr id="3" name="Rectángulo: esquinas redondeadas 2">
              <a:extLst>
                <a:ext uri="{FF2B5EF4-FFF2-40B4-BE49-F238E27FC236}">
                  <a16:creationId xmlns:a16="http://schemas.microsoft.com/office/drawing/2014/main" id="{9F904A61-9F2F-4BF5-82AF-111FE6777DEC}"/>
                </a:ext>
              </a:extLst>
            </p:cNvPr>
            <p:cNvSpPr/>
            <p:nvPr/>
          </p:nvSpPr>
          <p:spPr>
            <a:xfrm>
              <a:off x="2630311" y="2020712"/>
              <a:ext cx="666045" cy="2619022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0981BE41-A097-4F2F-B916-F603CCCACD72}"/>
                </a:ext>
              </a:extLst>
            </p:cNvPr>
            <p:cNvSpPr txBox="1"/>
            <p:nvPr/>
          </p:nvSpPr>
          <p:spPr>
            <a:xfrm>
              <a:off x="2291644" y="4639733"/>
              <a:ext cx="13433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>
                  <a:solidFill>
                    <a:srgbClr val="C00000"/>
                  </a:solidFill>
                </a:rPr>
                <a:t>Estimación Errada </a:t>
              </a:r>
              <a:endParaRPr lang="es-CO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FAF1F745-D09A-41CF-A16E-EF5247739880}"/>
              </a:ext>
            </a:extLst>
          </p:cNvPr>
          <p:cNvGrpSpPr/>
          <p:nvPr/>
        </p:nvGrpSpPr>
        <p:grpSpPr>
          <a:xfrm>
            <a:off x="2963333" y="2074291"/>
            <a:ext cx="1343378" cy="3270998"/>
            <a:chOff x="2963333" y="1363090"/>
            <a:chExt cx="1343378" cy="3270998"/>
          </a:xfrm>
        </p:grpSpPr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362A2548-CDDC-4036-8EF3-97020436DE3F}"/>
                </a:ext>
              </a:extLst>
            </p:cNvPr>
            <p:cNvSpPr/>
            <p:nvPr/>
          </p:nvSpPr>
          <p:spPr>
            <a:xfrm>
              <a:off x="3324579" y="2015066"/>
              <a:ext cx="720000" cy="2619022"/>
            </a:xfrm>
            <a:prstGeom prst="roundRect">
              <a:avLst/>
            </a:prstGeom>
            <a:noFill/>
            <a:ln w="28575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DC84BA57-B4F9-4A41-A4CE-19E8DA4BD3AE}"/>
                </a:ext>
              </a:extLst>
            </p:cNvPr>
            <p:cNvSpPr txBox="1"/>
            <p:nvPr/>
          </p:nvSpPr>
          <p:spPr>
            <a:xfrm>
              <a:off x="2963333" y="1363090"/>
              <a:ext cx="13433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/>
                <a:t>Estimación Moderada</a:t>
              </a:r>
              <a:endParaRPr lang="es-CO" dirty="0"/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5CBEB912-B722-414A-98F2-DBC2F8E4DED6}"/>
              </a:ext>
            </a:extLst>
          </p:cNvPr>
          <p:cNvGrpSpPr/>
          <p:nvPr/>
        </p:nvGrpSpPr>
        <p:grpSpPr>
          <a:xfrm>
            <a:off x="4024490" y="2709332"/>
            <a:ext cx="1343378" cy="3282287"/>
            <a:chOff x="4024490" y="1998131"/>
            <a:chExt cx="1343378" cy="3282287"/>
          </a:xfrm>
        </p:grpSpPr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9ABA8466-2DAA-4DCB-A93E-ED69309CF234}"/>
                </a:ext>
              </a:extLst>
            </p:cNvPr>
            <p:cNvSpPr/>
            <p:nvPr/>
          </p:nvSpPr>
          <p:spPr>
            <a:xfrm>
              <a:off x="4075285" y="1998131"/>
              <a:ext cx="1214265" cy="2619022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A9F3FEE5-A2E3-4DAB-931B-576E8265C82B}"/>
                </a:ext>
              </a:extLst>
            </p:cNvPr>
            <p:cNvSpPr txBox="1"/>
            <p:nvPr/>
          </p:nvSpPr>
          <p:spPr>
            <a:xfrm>
              <a:off x="4024490" y="4634087"/>
              <a:ext cx="13433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dirty="0">
                  <a:solidFill>
                    <a:srgbClr val="00B050"/>
                  </a:solidFill>
                </a:rPr>
                <a:t>Estimación Adecuada </a:t>
              </a:r>
              <a:endParaRPr lang="es-CO" dirty="0">
                <a:solidFill>
                  <a:srgbClr val="00B050"/>
                </a:solidFill>
              </a:endParaRPr>
            </a:p>
          </p:txBody>
        </p:sp>
      </p:grpSp>
      <p:pic>
        <p:nvPicPr>
          <p:cNvPr id="49" name="Imagen 48" descr="Gráfico, Histograma&#10;&#10;Descripción generada automáticamente">
            <a:extLst>
              <a:ext uri="{FF2B5EF4-FFF2-40B4-BE49-F238E27FC236}">
                <a16:creationId xmlns:a16="http://schemas.microsoft.com/office/drawing/2014/main" id="{F3EF206D-77B1-4725-B643-9B6DB16DE04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32042" y="2557239"/>
            <a:ext cx="4820372" cy="3500179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1CF6C820-120C-45D9-8B96-40693FB87683}"/>
              </a:ext>
            </a:extLst>
          </p:cNvPr>
          <p:cNvSpPr txBox="1"/>
          <p:nvPr/>
        </p:nvSpPr>
        <p:spPr>
          <a:xfrm>
            <a:off x="637116" y="1625312"/>
            <a:ext cx="487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Resultados Mejor Modelo</a:t>
            </a:r>
            <a:endParaRPr lang="es-CO" b="1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5733B61D-C156-4744-ABE0-03D4757218E2}"/>
              </a:ext>
            </a:extLst>
          </p:cNvPr>
          <p:cNvSpPr txBox="1"/>
          <p:nvPr/>
        </p:nvSpPr>
        <p:spPr>
          <a:xfrm>
            <a:off x="7009698" y="1630955"/>
            <a:ext cx="487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Diferencias Estimado Vs Observado</a:t>
            </a:r>
            <a:endParaRPr lang="es-CO" b="1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4AA2126B-6850-4DB8-8A0E-68CAC4DBFCCE}"/>
              </a:ext>
            </a:extLst>
          </p:cNvPr>
          <p:cNvSpPr txBox="1"/>
          <p:nvPr/>
        </p:nvSpPr>
        <p:spPr>
          <a:xfrm>
            <a:off x="9727712" y="2948931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Media:0.03%</a:t>
            </a:r>
            <a:endParaRPr lang="es-CO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604DDB6-B176-4025-AB48-04336D4E645E}"/>
              </a:ext>
            </a:extLst>
          </p:cNvPr>
          <p:cNvSpPr txBox="1"/>
          <p:nvPr/>
        </p:nvSpPr>
        <p:spPr>
          <a:xfrm>
            <a:off x="9733355" y="337226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P(25):-0.0014%</a:t>
            </a:r>
            <a:endParaRPr lang="es-CO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54756B5E-C2D8-4894-991C-9315430F6B29}"/>
              </a:ext>
            </a:extLst>
          </p:cNvPr>
          <p:cNvSpPr txBox="1"/>
          <p:nvPr/>
        </p:nvSpPr>
        <p:spPr>
          <a:xfrm>
            <a:off x="9742638" y="379088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P(75):0.002%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5168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/>
      <p:bldP spid="5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B403DB2-CD32-4EC5-8CDB-AF6A6151CD42}"/>
              </a:ext>
            </a:extLst>
          </p:cNvPr>
          <p:cNvSpPr txBox="1"/>
          <p:nvPr/>
        </p:nvSpPr>
        <p:spPr>
          <a:xfrm>
            <a:off x="481584" y="97536"/>
            <a:ext cx="10198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200" dirty="0">
                <a:solidFill>
                  <a:srgbClr val="C00000"/>
                </a:solidFill>
              </a:rPr>
              <a:t>Conclusiones</a:t>
            </a:r>
            <a:endParaRPr lang="es-CO" sz="3200" dirty="0">
              <a:solidFill>
                <a:srgbClr val="C00000"/>
              </a:solidFill>
            </a:endParaRPr>
          </a:p>
        </p:txBody>
      </p:sp>
      <p:pic>
        <p:nvPicPr>
          <p:cNvPr id="5" name="Imagen 4" descr="Forma&#10;&#10;Descripción generada automáticamente con confianza baja">
            <a:extLst>
              <a:ext uri="{FF2B5EF4-FFF2-40B4-BE49-F238E27FC236}">
                <a16:creationId xmlns:a16="http://schemas.microsoft.com/office/drawing/2014/main" id="{ECB2C45D-00EC-428F-B1D8-EBAE3BF28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313" y="1534609"/>
            <a:ext cx="3205223" cy="3205223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3539C389-8098-4014-BD0E-331D58280A2A}"/>
              </a:ext>
            </a:extLst>
          </p:cNvPr>
          <p:cNvGrpSpPr/>
          <p:nvPr/>
        </p:nvGrpSpPr>
        <p:grpSpPr>
          <a:xfrm>
            <a:off x="1157753" y="1820940"/>
            <a:ext cx="6921376" cy="646331"/>
            <a:chOff x="1157753" y="1820940"/>
            <a:chExt cx="6921376" cy="646331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2170EC0-136F-4625-BBC8-448716C525E4}"/>
                </a:ext>
              </a:extLst>
            </p:cNvPr>
            <p:cNvSpPr txBox="1"/>
            <p:nvPr/>
          </p:nvSpPr>
          <p:spPr>
            <a:xfrm>
              <a:off x="1747777" y="1820940"/>
              <a:ext cx="63313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Los procesos de retiros de fondos por parte de los clientes no tienen indicio de depender del retorno del portafolio</a:t>
              </a:r>
              <a:endParaRPr lang="es-CO" dirty="0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9F514C50-7002-4106-82D3-8A7FCB3BC2D6}"/>
                </a:ext>
              </a:extLst>
            </p:cNvPr>
            <p:cNvSpPr/>
            <p:nvPr/>
          </p:nvSpPr>
          <p:spPr>
            <a:xfrm>
              <a:off x="1157753" y="1851717"/>
              <a:ext cx="578735" cy="58477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2400" b="1" dirty="0"/>
                <a:t>1</a:t>
              </a:r>
              <a:endParaRPr lang="es-CO" b="1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7F85DC38-5AC9-4C1D-B4DC-E0EB98E4C7CF}"/>
              </a:ext>
            </a:extLst>
          </p:cNvPr>
          <p:cNvGrpSpPr/>
          <p:nvPr/>
        </p:nvGrpSpPr>
        <p:grpSpPr>
          <a:xfrm>
            <a:off x="1155752" y="2632955"/>
            <a:ext cx="6921376" cy="646331"/>
            <a:chOff x="1155752" y="2632955"/>
            <a:chExt cx="6921376" cy="646331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BB5BF1A3-0396-43AE-972C-51C2C297B0A2}"/>
                </a:ext>
              </a:extLst>
            </p:cNvPr>
            <p:cNvSpPr txBox="1"/>
            <p:nvPr/>
          </p:nvSpPr>
          <p:spPr>
            <a:xfrm>
              <a:off x="1745776" y="2632955"/>
              <a:ext cx="63313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El indicador de desempeño reconoce las particularidades que atienden la dinámica del negocio</a:t>
              </a:r>
              <a:endParaRPr lang="es-CO" dirty="0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98BB594D-8F46-486E-BC91-2F053715FE9F}"/>
                </a:ext>
              </a:extLst>
            </p:cNvPr>
            <p:cNvSpPr/>
            <p:nvPr/>
          </p:nvSpPr>
          <p:spPr>
            <a:xfrm>
              <a:off x="1155752" y="2663732"/>
              <a:ext cx="578735" cy="58477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/>
                <a:t>2</a:t>
              </a:r>
              <a:endParaRPr lang="es-CO" b="1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89D51B38-DE8E-42C8-B8CF-29987B579CA4}"/>
              </a:ext>
            </a:extLst>
          </p:cNvPr>
          <p:cNvGrpSpPr/>
          <p:nvPr/>
        </p:nvGrpSpPr>
        <p:grpSpPr>
          <a:xfrm>
            <a:off x="1150106" y="3552999"/>
            <a:ext cx="6921376" cy="646331"/>
            <a:chOff x="1150106" y="3552999"/>
            <a:chExt cx="6921376" cy="646331"/>
          </a:xfrm>
        </p:grpSpPr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55354CB7-0303-413F-89CA-B90C86DE2560}"/>
                </a:ext>
              </a:extLst>
            </p:cNvPr>
            <p:cNvSpPr txBox="1"/>
            <p:nvPr/>
          </p:nvSpPr>
          <p:spPr>
            <a:xfrm>
              <a:off x="1740130" y="3552999"/>
              <a:ext cx="63313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Los modelos seleccionados presentan un nivel de ajuste a los movimientos observados en los retiros</a:t>
              </a:r>
              <a:endParaRPr lang="es-CO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3A6D47F9-8482-4230-B8C9-49942483C709}"/>
                </a:ext>
              </a:extLst>
            </p:cNvPr>
            <p:cNvSpPr/>
            <p:nvPr/>
          </p:nvSpPr>
          <p:spPr>
            <a:xfrm>
              <a:off x="1150106" y="3583776"/>
              <a:ext cx="578735" cy="58477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/>
                <a:t>3</a:t>
              </a:r>
              <a:endParaRPr lang="es-CO" b="1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0B841CB-22DE-49CB-8F0B-79064E701550}"/>
              </a:ext>
            </a:extLst>
          </p:cNvPr>
          <p:cNvGrpSpPr/>
          <p:nvPr/>
        </p:nvGrpSpPr>
        <p:grpSpPr>
          <a:xfrm>
            <a:off x="1138817" y="4422240"/>
            <a:ext cx="6921376" cy="646331"/>
            <a:chOff x="1138817" y="4422240"/>
            <a:chExt cx="6921376" cy="646331"/>
          </a:xfrm>
        </p:grpSpPr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DDD008F3-EFBA-496F-AF27-8CEFA692D974}"/>
                </a:ext>
              </a:extLst>
            </p:cNvPr>
            <p:cNvSpPr txBox="1"/>
            <p:nvPr/>
          </p:nvSpPr>
          <p:spPr>
            <a:xfrm>
              <a:off x="1728841" y="4422240"/>
              <a:ext cx="63313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/>
                <a:t>En promedio hay un 19% de las estimaciones donde se pronostica un aporte cuando en la realidad sucedió un retiro</a:t>
              </a:r>
              <a:endParaRPr lang="es-CO" dirty="0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F680C404-4AE8-411F-89DE-D0FEEBA7A631}"/>
                </a:ext>
              </a:extLst>
            </p:cNvPr>
            <p:cNvSpPr/>
            <p:nvPr/>
          </p:nvSpPr>
          <p:spPr>
            <a:xfrm>
              <a:off x="1138817" y="4453017"/>
              <a:ext cx="578735" cy="584775"/>
            </a:xfrm>
            <a:prstGeom prst="ellipse">
              <a:avLst/>
            </a:prstGeom>
            <a:solidFill>
              <a:srgbClr val="C0000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/>
                <a:t>4</a:t>
              </a:r>
              <a:endParaRPr lang="es-CO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4040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487</Words>
  <Application>Microsoft Office PowerPoint</Application>
  <PresentationFormat>Panorámica</PresentationFormat>
  <Paragraphs>80</Paragraphs>
  <Slides>8</Slides>
  <Notes>1</Notes>
  <HiddenSlides>3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Calderon</dc:creator>
  <cp:lastModifiedBy>Juan Calderon</cp:lastModifiedBy>
  <cp:revision>27</cp:revision>
  <dcterms:created xsi:type="dcterms:W3CDTF">2021-07-09T01:37:48Z</dcterms:created>
  <dcterms:modified xsi:type="dcterms:W3CDTF">2021-09-09T02:54:55Z</dcterms:modified>
</cp:coreProperties>
</file>